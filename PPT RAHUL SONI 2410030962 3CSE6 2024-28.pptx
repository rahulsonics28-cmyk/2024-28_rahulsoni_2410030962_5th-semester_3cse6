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EE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3246120"/>
            <a:ext cx="2331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6052"/>
                </a:solidFill>
                <a:latin typeface="Aptos Display"/>
              </a:defRPr>
            </a:pPr>
            <a:r>
              <a:t>IILM UNIVERSITY</a:t>
            </a:r>
          </a:p>
          <a:p>
            <a:pPr>
              <a:defRPr sz="1300">
                <a:solidFill>
                  <a:srgbClr val="5F625E"/>
                </a:solidFill>
                <a:latin typeface="Aptos"/>
              </a:defRPr>
            </a:pPr>
            <a:r>
              <a:t>Greater Noida, U.P.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51960" y="777240"/>
            <a:ext cx="71323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1B1A"/>
                </a:solidFill>
                <a:latin typeface="Aptos Display"/>
              </a:defRPr>
            </a:pPr>
            <a:r>
              <a:t>CLOUD VIRTUAL</a:t>
            </a:r>
            <a:br/>
            <a:r>
              <a:t>INTERNSHIP</a:t>
            </a:r>
          </a:p>
          <a:p>
            <a:pPr>
              <a:spcBef>
                <a:spcPts val="800"/>
              </a:spcBef>
              <a:defRPr sz="1600">
                <a:solidFill>
                  <a:srgbClr val="4B6052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542032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51960" y="2542032"/>
            <a:ext cx="64008" cy="786384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660903"/>
            <a:ext cx="27889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050" b="1">
                <a:solidFill>
                  <a:srgbClr val="191B1A"/>
                </a:solidFill>
                <a:latin typeface="Aptos Display"/>
              </a:defRPr>
            </a:pPr>
            <a:r>
              <a:t>Student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962656"/>
            <a:ext cx="27889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50">
                <a:solidFill>
                  <a:srgbClr val="5F625E"/>
                </a:solidFill>
                <a:latin typeface="Aptos"/>
              </a:defRPr>
            </a:pPr>
            <a:r>
              <a:t>Rahul Soni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410712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3410712"/>
            <a:ext cx="64008" cy="786384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529584"/>
            <a:ext cx="27889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050" b="1">
                <a:solidFill>
                  <a:srgbClr val="191B1A"/>
                </a:solidFill>
                <a:latin typeface="Aptos Display"/>
              </a:defRPr>
            </a:pPr>
            <a:r>
              <a:t>Roll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31336"/>
            <a:ext cx="27889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50">
                <a:solidFill>
                  <a:srgbClr val="5F625E"/>
                </a:solidFill>
                <a:latin typeface="Aptos"/>
              </a:defRPr>
            </a:pPr>
            <a:r>
              <a:t>2410030962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279392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4279392"/>
            <a:ext cx="64008" cy="786384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398264"/>
            <a:ext cx="27889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050" b="1">
                <a:solidFill>
                  <a:srgbClr val="191B1A"/>
                </a:solidFill>
                <a:latin typeface="Aptos Display"/>
              </a:defRPr>
            </a:pPr>
            <a:r>
              <a:t>Program &amp; Semester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700016"/>
            <a:ext cx="27889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50">
                <a:solidFill>
                  <a:srgbClr val="5F625E"/>
                </a:solidFill>
                <a:latin typeface="Aptos"/>
              </a:defRPr>
            </a:pPr>
            <a:r>
              <a:t>B.Tech CSE • 5th Semester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5148072"/>
            <a:ext cx="3383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5148072"/>
            <a:ext cx="64008" cy="786384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5266944"/>
            <a:ext cx="27889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050" b="1">
                <a:solidFill>
                  <a:srgbClr val="191B1A"/>
                </a:solidFill>
                <a:latin typeface="Aptos Display"/>
              </a:defRPr>
            </a:pPr>
            <a:r>
              <a:t>Organization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568696"/>
            <a:ext cx="27889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350">
                <a:solidFill>
                  <a:srgbClr val="5F625E"/>
                </a:solidFill>
                <a:latin typeface="Aptos"/>
              </a:defRPr>
            </a:pPr>
            <a:r>
              <a:t>EduSkills Foundation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606040"/>
            <a:ext cx="32918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2606040"/>
            <a:ext cx="64008" cy="2487168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8" y="2752344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B1A"/>
                </a:solidFill>
                <a:latin typeface="Aptos Display"/>
              </a:defRPr>
            </a:pPr>
            <a:r>
              <a:t>Internship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3172968"/>
            <a:ext cx="292608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F625E"/>
                </a:solidFill>
                <a:latin typeface="Aptos"/>
              </a:defRPr>
            </a:pPr>
            <a:r>
              <a:t>Duration: 8 Weeks</a:t>
            </a:r>
            <a:br/>
            <a:r>
              <a:t>Period: April–June 2026</a:t>
            </a:r>
            <a:br/>
            <a:r>
              <a:t>Curriculum: AWS Academy</a:t>
            </a:r>
            <a:br/>
            <a:r>
              <a:t>Academic Year: 2026–27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25E"/>
                </a:solidFill>
                <a:latin typeface="Aptos"/>
              </a:defRPr>
            </a:pPr>
            <a:r>
              <a:t>IILM University  •  Cloud Virtual Internship  •  Rahul Soni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B1A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84048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B605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1920240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B1A"/>
                </a:solidFill>
                <a:latin typeface="Aptos Display"/>
              </a:defRPr>
            </a:pPr>
            <a:r>
              <a:t>What was the internship?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01368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F625E"/>
                </a:solidFill>
                <a:latin typeface="Aptos"/>
              </a:defRPr>
            </a:pPr>
            <a:r>
              <a:t>An eight-week virtual learning programme focused on cloud computing and Amazon Web Services (AWS), completed through EduSkills Foundation during April–June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64008" cy="1920240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380744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B1A"/>
                </a:solidFill>
                <a:latin typeface="Aptos Display"/>
              </a:defRPr>
            </a:pPr>
            <a:r>
              <a:t>Learning progression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01368"/>
            <a:ext cx="49834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F625E"/>
                </a:solidFill>
                <a:latin typeface="Aptos"/>
              </a:defRPr>
            </a:pPr>
            <a:r>
              <a:t>The curriculum moved from cloud fundamentals to AWS architecture, security, monitoring, scalability, high availability and certification-oriented preparation.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64008" cy="1874519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210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B1A"/>
                </a:solidFill>
                <a:latin typeface="Aptos Display"/>
              </a:defRPr>
            </a:pPr>
            <a:r>
              <a:t>Cloud Foundations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4164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F625E"/>
                </a:solidFill>
                <a:latin typeface="Aptos"/>
              </a:defRPr>
            </a:pPr>
            <a:r>
              <a:t>Weeks 1–4</a:t>
            </a:r>
            <a:br/>
            <a:r>
              <a:t>Cloud concepts • AWS basics • networking • compute • storage • databases • monitoring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747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474720"/>
            <a:ext cx="64008" cy="1874519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6210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B1A"/>
                </a:solidFill>
                <a:latin typeface="Aptos Display"/>
              </a:defRPr>
            </a:pPr>
            <a:r>
              <a:t>Cloud Architecting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04164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F625E"/>
                </a:solidFill>
                <a:latin typeface="Aptos"/>
              </a:defRPr>
            </a:pPr>
            <a:r>
              <a:t>Weeks 5–8</a:t>
            </a:r>
            <a:br/>
            <a:r>
              <a:t>IAM • KMS • S3 • EC2 • RDS • VPC • Route 53 • SQS • Lambda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47472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3474720"/>
            <a:ext cx="64008" cy="1874519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3621024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B1A"/>
                </a:solidFill>
                <a:latin typeface="Aptos Display"/>
              </a:defRPr>
            </a:pPr>
            <a:r>
              <a:t>Documented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4041648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F625E"/>
                </a:solidFill>
                <a:latin typeface="Aptos"/>
              </a:defRPr>
            </a:pPr>
            <a:r>
              <a:t>The supplied report describes academic learning and assessment; it does not claim deployment on a production system.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25E"/>
                </a:solidFill>
                <a:latin typeface="Aptos"/>
              </a:defRPr>
            </a:pPr>
            <a:r>
              <a:t>IILM University  •  Cloud Virtual Internship  •  Rahul Soni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B1A"/>
                </a:solidFill>
                <a:latin typeface="Aptos Display"/>
              </a:defRPr>
            </a:pPr>
            <a:r>
              <a:t>Project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84048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B605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91B1A"/>
                </a:solidFill>
                <a:latin typeface="Aptos"/>
              </a:defRPr>
            </a:pPr>
            <a:r>
              <a:t>•  Understand the fundamentals of cloud computing and AWS.</a:t>
            </a:r>
          </a:p>
          <a:p>
            <a:pPr>
              <a:spcAft>
                <a:spcPts val="600"/>
              </a:spcAft>
              <a:defRPr sz="1600">
                <a:solidFill>
                  <a:srgbClr val="191B1A"/>
                </a:solidFill>
                <a:latin typeface="Aptos"/>
              </a:defRPr>
            </a:pPr>
            <a:r>
              <a:t>•  Build foundational knowledge of cloud networking and content delivery.</a:t>
            </a:r>
          </a:p>
          <a:p>
            <a:pPr>
              <a:spcAft>
                <a:spcPts val="600"/>
              </a:spcAft>
              <a:defRPr sz="1600">
                <a:solidFill>
                  <a:srgbClr val="191B1A"/>
                </a:solidFill>
                <a:latin typeface="Aptos"/>
              </a:defRPr>
            </a:pPr>
            <a:r>
              <a:t>•  Understand compute, storage and database services in cloud environments.</a:t>
            </a:r>
          </a:p>
          <a:p>
            <a:pPr>
              <a:spcAft>
                <a:spcPts val="600"/>
              </a:spcAft>
              <a:defRPr sz="1600">
                <a:solidFill>
                  <a:srgbClr val="191B1A"/>
                </a:solidFill>
                <a:latin typeface="Aptos"/>
              </a:defRPr>
            </a:pPr>
            <a:r>
              <a:t>•  Study cloud architecture, automatic scaling and monitoring.</a:t>
            </a:r>
          </a:p>
          <a:p>
            <a:pPr>
              <a:spcAft>
                <a:spcPts val="600"/>
              </a:spcAft>
              <a:defRPr sz="1600">
                <a:solidFill>
                  <a:srgbClr val="191B1A"/>
                </a:solidFill>
                <a:latin typeface="Aptos"/>
              </a:defRPr>
            </a:pPr>
            <a:r>
              <a:t>•  Learn AWS security, high availability, decoupled and serverless concepts.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234440"/>
            <a:ext cx="4800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234440"/>
            <a:ext cx="64008" cy="1143000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380744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B1A"/>
                </a:solidFill>
                <a:latin typeface="Aptos Display"/>
              </a:defRPr>
            </a:pPr>
            <a:r>
              <a:t>Scope: Core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180136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F625E"/>
                </a:solidFill>
                <a:latin typeface="Aptos"/>
              </a:defRPr>
            </a:pPr>
            <a:r>
              <a:t>IAM, KMS, S3, EC2, RDS, VPC, VPC Peering and Route 53.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606040"/>
            <a:ext cx="4800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606040"/>
            <a:ext cx="64008" cy="1143000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752344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B1A"/>
                </a:solidFill>
                <a:latin typeface="Aptos Display"/>
              </a:defRPr>
            </a:pPr>
            <a:r>
              <a:t>Scope: Modern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317296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F625E"/>
                </a:solidFill>
                <a:latin typeface="Aptos"/>
              </a:defRPr>
            </a:pPr>
            <a:r>
              <a:t>Elasticity, automatic scaling, monitoring, SQS, Lambda and high availability.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977639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3977639"/>
            <a:ext cx="64008" cy="1417320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4123944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B1A"/>
                </a:solidFill>
                <a:latin typeface="Aptos Display"/>
              </a:defRPr>
            </a:pPr>
            <a:r>
              <a:t>Scope: Advanced Topics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454456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F625E"/>
                </a:solidFill>
                <a:latin typeface="Aptos"/>
              </a:defRPr>
            </a:pPr>
            <a:r>
              <a:t>Data engineering patterns, disaster recovery planning and AWS Solutions Architect certification preparation.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25E"/>
                </a:solidFill>
                <a:latin typeface="Aptos"/>
              </a:defRPr>
            </a:pPr>
            <a:r>
              <a:t>IILM University  •  Cloud Virtual Internship  •  Rahul Soni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B1A"/>
                </a:solidFill>
                <a:latin typeface="Aptos Display"/>
              </a:defRPr>
            </a:pPr>
            <a:r>
              <a:t>Organization &amp;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84048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B605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828800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8074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B1A"/>
                </a:solidFill>
                <a:latin typeface="Aptos Display"/>
              </a:defRPr>
            </a:pPr>
            <a:r>
              <a:t>EduSkills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01368"/>
            <a:ext cx="493775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F625E"/>
                </a:solidFill>
                <a:latin typeface="Aptos"/>
              </a:defRPr>
            </a:pPr>
            <a:r>
              <a:t>The supplied internship certificate confirms the eight-week Cloud Virtual Internship and identifies EduSkills Foundation as the organization through which the programme was provided.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64008" cy="1828800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380744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B1A"/>
                </a:solidFill>
                <a:latin typeface="Aptos Display"/>
              </a:defRPr>
            </a:pPr>
            <a:r>
              <a:t>AWS Academy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01368"/>
            <a:ext cx="493775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F625E"/>
                </a:solidFill>
                <a:latin typeface="Aptos"/>
              </a:defRPr>
            </a:pPr>
            <a:r>
              <a:t>The supplied certificate identifies AWS Academy as the curriculum provider for the cloud-focused learning programme.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886200"/>
            <a:ext cx="1051560" cy="1051560"/>
          </a:xfrm>
          <a:prstGeom prst="ellipse">
            <a:avLst/>
          </a:prstGeom>
          <a:solidFill>
            <a:srgbClr val="EEF0EB"/>
          </a:solidFill>
          <a:ln>
            <a:solidFill>
              <a:srgbClr val="4B6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50791"/>
            <a:ext cx="1051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B605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15087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Cloud</a:t>
            </a:r>
            <a:br/>
            <a:r>
              <a:t>Fundamentals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64792" y="4370832"/>
            <a:ext cx="1051560" cy="22860"/>
          </a:xfrm>
          <a:prstGeom prst="rect">
            <a:avLst/>
          </a:prstGeom>
          <a:solidFill>
            <a:srgbClr val="CD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26080" y="3886200"/>
            <a:ext cx="1051560" cy="1051560"/>
          </a:xfrm>
          <a:prstGeom prst="ellipse">
            <a:avLst/>
          </a:prstGeom>
          <a:solidFill>
            <a:srgbClr val="EEF0EB"/>
          </a:solidFill>
          <a:ln>
            <a:solidFill>
              <a:srgbClr val="9A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050791"/>
            <a:ext cx="1051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B605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5074920"/>
            <a:ext cx="15087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Networking &amp;</a:t>
            </a:r>
            <a:br/>
            <a:r>
              <a:t>Content Delivery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05072" y="4370832"/>
            <a:ext cx="1051560" cy="22860"/>
          </a:xfrm>
          <a:prstGeom prst="rect">
            <a:avLst/>
          </a:prstGeom>
          <a:solidFill>
            <a:srgbClr val="CD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66360" y="3886200"/>
            <a:ext cx="1051560" cy="1051560"/>
          </a:xfrm>
          <a:prstGeom prst="ellipse">
            <a:avLst/>
          </a:prstGeom>
          <a:solidFill>
            <a:srgbClr val="EEF0EB"/>
          </a:solidFill>
          <a:ln>
            <a:solidFill>
              <a:srgbClr val="4B6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4050791"/>
            <a:ext cx="1051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B605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5074920"/>
            <a:ext cx="15087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Compute, Storage</a:t>
            </a:r>
            <a:br/>
            <a:r>
              <a:t>&amp; Databases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4370832"/>
            <a:ext cx="1051560" cy="22860"/>
          </a:xfrm>
          <a:prstGeom prst="rect">
            <a:avLst/>
          </a:prstGeom>
          <a:solidFill>
            <a:srgbClr val="CD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06640" y="3886200"/>
            <a:ext cx="1051560" cy="1051560"/>
          </a:xfrm>
          <a:prstGeom prst="ellipse">
            <a:avLst/>
          </a:prstGeom>
          <a:solidFill>
            <a:srgbClr val="EEF0EB"/>
          </a:solidFill>
          <a:ln>
            <a:solidFill>
              <a:srgbClr val="9A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4050791"/>
            <a:ext cx="1051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B605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074920"/>
            <a:ext cx="15087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Architecture,</a:t>
            </a:r>
            <a:br/>
            <a:r>
              <a:t>Scaling &amp; Monitoring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85632" y="4370832"/>
            <a:ext cx="1051560" cy="22860"/>
          </a:xfrm>
          <a:prstGeom prst="rect">
            <a:avLst/>
          </a:prstGeom>
          <a:solidFill>
            <a:srgbClr val="CD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46920" y="3886200"/>
            <a:ext cx="1051560" cy="1051560"/>
          </a:xfrm>
          <a:prstGeom prst="ellipse">
            <a:avLst/>
          </a:prstGeom>
          <a:solidFill>
            <a:srgbClr val="EEF0EB"/>
          </a:solidFill>
          <a:ln>
            <a:solidFill>
              <a:srgbClr val="4B6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4050791"/>
            <a:ext cx="1051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B605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5074920"/>
            <a:ext cx="15087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Security,</a:t>
            </a:r>
            <a:br/>
            <a:r>
              <a:t>Availability &amp; DR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25E"/>
                </a:solidFill>
                <a:latin typeface="Aptos"/>
              </a:defRPr>
            </a:pPr>
            <a:r>
              <a:t>IILM University  •  Cloud Virtual Internship  •  Rahul Soni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601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1B1A"/>
                </a:solidFill>
                <a:latin typeface="Aptos"/>
              </a:defRPr>
            </a:pPr>
            <a:r>
              <a:t>Technologies &amp; AWS Services Studied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56616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4B605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9875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25880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191B1A"/>
                </a:solidFill>
                <a:latin typeface="Aptos"/>
              </a:defRPr>
            </a:pPr>
            <a:r>
              <a:t>Security &amp;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627632"/>
            <a:ext cx="20756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625E"/>
                </a:solidFill>
                <a:latin typeface="Aptos"/>
              </a:defRPr>
            </a:pPr>
            <a:r>
              <a:t>IAM • KMS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234440"/>
            <a:ext cx="64008" cy="987552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325880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191B1A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1627632"/>
            <a:ext cx="20756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625E"/>
                </a:solidFill>
                <a:latin typeface="Aptos"/>
              </a:defRPr>
            </a:pPr>
            <a:r>
              <a:t>Amazon S3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34440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64008" cy="9875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325880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191B1A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627632"/>
            <a:ext cx="20756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625E"/>
                </a:solidFill>
                <a:latin typeface="Aptos"/>
              </a:defRPr>
            </a:pPr>
            <a:r>
              <a:t>Amazon EC2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234440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234440"/>
            <a:ext cx="64008" cy="987552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1325880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191B1A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1627632"/>
            <a:ext cx="20756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625E"/>
                </a:solidFill>
                <a:latin typeface="Aptos"/>
              </a:defRPr>
            </a:pPr>
            <a:r>
              <a:t>Amazon 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496312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496312"/>
            <a:ext cx="64008" cy="9875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2587752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191B1A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2889504"/>
            <a:ext cx="20756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625E"/>
                </a:solidFill>
                <a:latin typeface="Aptos"/>
              </a:defRPr>
            </a:pPr>
            <a:r>
              <a:t>Amazon VPC • VPC Peering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2496312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2496312"/>
            <a:ext cx="64008" cy="987552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5887" y="2587752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191B1A"/>
                </a:solidFill>
                <a:latin typeface="Aptos"/>
              </a:defRPr>
            </a:pPr>
            <a:r>
              <a:t>DNS &amp; Availability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5887" y="2889504"/>
            <a:ext cx="20756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625E"/>
                </a:solidFill>
                <a:latin typeface="Aptos"/>
              </a:defRPr>
            </a:pPr>
            <a:r>
              <a:t>Amazon Route 53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496312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496312"/>
            <a:ext cx="64008" cy="9875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587752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191B1A"/>
                </a:solidFill>
                <a:latin typeface="Aptos"/>
              </a:defRPr>
            </a:pPr>
            <a:r>
              <a:t>Decoupling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2889504"/>
            <a:ext cx="20756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625E"/>
                </a:solidFill>
                <a:latin typeface="Aptos"/>
              </a:defRPr>
            </a:pPr>
            <a:r>
              <a:t>Amazon SQS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496312"/>
            <a:ext cx="24231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2496312"/>
            <a:ext cx="64008" cy="987552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2587752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191B1A"/>
                </a:solidFill>
                <a:latin typeface="Aptos"/>
              </a:defRPr>
            </a:pPr>
            <a:r>
              <a:t>Serverless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8" y="2889504"/>
            <a:ext cx="20756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625E"/>
                </a:solidFill>
                <a:latin typeface="Aptos"/>
              </a:defRPr>
            </a:pPr>
            <a:r>
              <a:t>AWS Lambda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886200"/>
            <a:ext cx="109270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3886200"/>
            <a:ext cx="64008" cy="1024128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3977639"/>
            <a:ext cx="10579607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191B1A"/>
                </a:solidFill>
                <a:latin typeface="Aptos"/>
              </a:defRPr>
            </a:pPr>
            <a:r>
              <a:t>Operational Concepts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4279392"/>
            <a:ext cx="1057960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625E"/>
                </a:solidFill>
                <a:latin typeface="Aptos"/>
              </a:defRPr>
            </a:pPr>
            <a:r>
              <a:t>Monitoring • Automatic scaling • Elasticity • High availability • Disaster recovery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138928"/>
            <a:ext cx="10927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138928"/>
            <a:ext cx="64008" cy="621792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7" y="5230368"/>
            <a:ext cx="10579607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191B1A"/>
                </a:solidFill>
                <a:latin typeface="Aptos"/>
              </a:defRPr>
            </a:pPr>
            <a:r>
              <a:t>Learning Integration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7" y="5532120"/>
            <a:ext cx="10579607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625E"/>
                </a:solidFill>
                <a:latin typeface="Aptos"/>
              </a:defRPr>
            </a:pPr>
            <a:r>
              <a:t>AWS services were studied as interconnected building blocks of cloud architecture.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6501384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5F625E"/>
                </a:solidFill>
                <a:latin typeface="Aptos"/>
              </a:defRPr>
            </a:pPr>
            <a:r>
              <a:t>IILM University  •  Cloud Virtual Internship  •  Rahul Soni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B1A"/>
                </a:solidFill>
                <a:latin typeface="Aptos Display"/>
              </a:defRPr>
            </a:pPr>
            <a:r>
              <a:t>Conceptual AWS 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84048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B605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078992"/>
            <a:ext cx="6400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9A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1097280"/>
            <a:ext cx="6217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1">
                <a:solidFill>
                  <a:srgbClr val="191B1A"/>
                </a:solidFill>
                <a:latin typeface="Aptos"/>
              </a:defRPr>
            </a:pPr>
            <a:r>
              <a:t>Users / Applications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06440" y="1545336"/>
            <a:ext cx="502920" cy="201168"/>
          </a:xfrm>
          <a:prstGeom prst="downArrow">
            <a:avLst/>
          </a:prstGeom>
          <a:solidFill>
            <a:srgbClr val="CD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360" y="1655064"/>
            <a:ext cx="6400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B6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673352"/>
            <a:ext cx="6217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0">
                <a:solidFill>
                  <a:srgbClr val="191B1A"/>
                </a:solidFill>
                <a:latin typeface="Aptos"/>
              </a:defRPr>
            </a:pPr>
            <a:r>
              <a:t>Route 53 / Networking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06440" y="2121408"/>
            <a:ext cx="502920" cy="201168"/>
          </a:xfrm>
          <a:prstGeom prst="downArrow">
            <a:avLst/>
          </a:prstGeom>
          <a:solidFill>
            <a:srgbClr val="CD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0360" y="2231136"/>
            <a:ext cx="6400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9A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249424"/>
            <a:ext cx="6217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0">
                <a:solidFill>
                  <a:srgbClr val="191B1A"/>
                </a:solidFill>
                <a:latin typeface="Aptos"/>
              </a:defRPr>
            </a:pPr>
            <a:r>
              <a:t>VPC &amp; Network Connectivity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06440" y="2697480"/>
            <a:ext cx="502920" cy="201168"/>
          </a:xfrm>
          <a:prstGeom prst="downArrow">
            <a:avLst/>
          </a:prstGeom>
          <a:solidFill>
            <a:srgbClr val="CD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2807208"/>
            <a:ext cx="6400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B6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825496"/>
            <a:ext cx="6217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1">
                <a:solidFill>
                  <a:srgbClr val="191B1A"/>
                </a:solidFill>
                <a:latin typeface="Aptos"/>
              </a:defRPr>
            </a:pPr>
            <a:r>
              <a:t>EC2 Compute  ↔  AWS Lambda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06440" y="3273552"/>
            <a:ext cx="502920" cy="201168"/>
          </a:xfrm>
          <a:prstGeom prst="downArrow">
            <a:avLst/>
          </a:prstGeom>
          <a:solidFill>
            <a:srgbClr val="CD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80360" y="3383279"/>
            <a:ext cx="6400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9A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401568"/>
            <a:ext cx="6217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1">
                <a:solidFill>
                  <a:srgbClr val="191B1A"/>
                </a:solidFill>
                <a:latin typeface="Aptos"/>
              </a:defRPr>
            </a:pPr>
            <a:r>
              <a:t>S3 Storage  ↔  RDS Database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806440" y="3849624"/>
            <a:ext cx="502920" cy="201168"/>
          </a:xfrm>
          <a:prstGeom prst="downArrow">
            <a:avLst/>
          </a:prstGeom>
          <a:solidFill>
            <a:srgbClr val="CD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80360" y="3959352"/>
            <a:ext cx="6400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B6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3977639"/>
            <a:ext cx="6217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0">
                <a:solidFill>
                  <a:srgbClr val="191B1A"/>
                </a:solidFill>
                <a:latin typeface="Aptos"/>
              </a:defRPr>
            </a:pPr>
            <a:r>
              <a:t>Amazon SQS / Decoupling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06440" y="4425696"/>
            <a:ext cx="502920" cy="201168"/>
          </a:xfrm>
          <a:prstGeom prst="downArrow">
            <a:avLst/>
          </a:prstGeom>
          <a:solidFill>
            <a:srgbClr val="CD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80360" y="4535424"/>
            <a:ext cx="6400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9A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4553712"/>
            <a:ext cx="6217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0">
                <a:solidFill>
                  <a:srgbClr val="191B1A"/>
                </a:solidFill>
                <a:latin typeface="Aptos"/>
              </a:defRPr>
            </a:pPr>
            <a:r>
              <a:t>IAM + KMS / Security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806440" y="5001768"/>
            <a:ext cx="502920" cy="201168"/>
          </a:xfrm>
          <a:prstGeom prst="downArrow">
            <a:avLst/>
          </a:prstGeom>
          <a:solidFill>
            <a:srgbClr val="CD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80360" y="5111496"/>
            <a:ext cx="6400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4B6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5129783"/>
            <a:ext cx="6217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0">
                <a:solidFill>
                  <a:srgbClr val="191B1A"/>
                </a:solidFill>
                <a:latin typeface="Aptos"/>
              </a:defRPr>
            </a:pPr>
            <a:r>
              <a:t>Monitoring + Automatic Scaling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806440" y="5577840"/>
            <a:ext cx="502920" cy="201168"/>
          </a:xfrm>
          <a:prstGeom prst="downArrow">
            <a:avLst/>
          </a:prstGeom>
          <a:solidFill>
            <a:srgbClr val="CDC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80360" y="5687568"/>
            <a:ext cx="64008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9A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5705855"/>
            <a:ext cx="6217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1">
                <a:solidFill>
                  <a:srgbClr val="191B1A"/>
                </a:solidFill>
                <a:latin typeface="Aptos"/>
              </a:defRPr>
            </a:pPr>
            <a:r>
              <a:t>High Availability / Disaster 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1874519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6052"/>
                </a:solidFill>
                <a:latin typeface="Aptos Display"/>
              </a:defRPr>
            </a:pPr>
            <a:r>
              <a:t>Conceptual view</a:t>
            </a:r>
          </a:p>
          <a:p>
            <a:pPr>
              <a:spcBef>
                <a:spcPts val="800"/>
              </a:spcBef>
              <a:defRPr sz="1100">
                <a:solidFill>
                  <a:srgbClr val="5F625E"/>
                </a:solidFill>
                <a:latin typeface="Aptos"/>
              </a:defRPr>
            </a:pPr>
            <a:r>
              <a:t>This architecture connects the major AWS topics studied during the internship. It is not presented as a record of a specific production system.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25E"/>
                </a:solidFill>
                <a:latin typeface="Aptos"/>
              </a:defRPr>
            </a:pPr>
            <a:r>
              <a:t>IILM University  •  Cloud Virtual Internship  •  Rahul Soni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B1A"/>
                </a:solidFill>
                <a:latin typeface="Aptos Display"/>
              </a:defRPr>
            </a:pPr>
            <a:r>
              <a:t>Week-wise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84048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B605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052"/>
                </a:solidFill>
                <a:latin typeface="Aptos"/>
              </a:defRPr>
            </a:pPr>
            <a:r>
              <a:t>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78992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052"/>
                </a:solidFill>
                <a:latin typeface="Aptos"/>
              </a:defRPr>
            </a:pPr>
            <a: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078992"/>
            <a:ext cx="8001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052"/>
                </a:solidFill>
                <a:latin typeface="Aptos"/>
              </a:defRPr>
            </a:pPr>
            <a:r>
              <a:t>Focus /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44752"/>
            <a:ext cx="6400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1444752"/>
            <a:ext cx="1874519" cy="512064"/>
          </a:xfrm>
          <a:prstGeom prst="rect">
            <a:avLst/>
          </a:prstGeom>
          <a:solidFill>
            <a:srgbClr val="FFFFFF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44752"/>
            <a:ext cx="8001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90472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4B605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1481328"/>
            <a:ext cx="1810512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Cloud 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499616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91B1A"/>
                </a:solidFill>
                <a:latin typeface="Aptos"/>
              </a:defRPr>
            </a:pPr>
            <a:r>
              <a:t>Cloud concepts, economics &amp; billing, AWS global infrastructure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75104"/>
            <a:ext cx="640080" cy="512064"/>
          </a:xfrm>
          <a:prstGeom prst="rect">
            <a:avLst/>
          </a:prstGeom>
          <a:solidFill>
            <a:srgbClr val="EEF0EB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17320" y="1975104"/>
            <a:ext cx="1874519" cy="512064"/>
          </a:xfrm>
          <a:prstGeom prst="rect">
            <a:avLst/>
          </a:prstGeom>
          <a:solidFill>
            <a:srgbClr val="EEF0EB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975104"/>
            <a:ext cx="8001000" cy="512064"/>
          </a:xfrm>
          <a:prstGeom prst="rect">
            <a:avLst/>
          </a:prstGeom>
          <a:solidFill>
            <a:srgbClr val="EEF0EB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20824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4B605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2011680"/>
            <a:ext cx="1810512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Cloud Foundations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202996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91B1A"/>
                </a:solidFill>
                <a:latin typeface="Aptos"/>
              </a:defRPr>
            </a:pPr>
            <a:r>
              <a:t>Security, networking &amp; content delivery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505456"/>
            <a:ext cx="6400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17320" y="2505456"/>
            <a:ext cx="1874519" cy="512064"/>
          </a:xfrm>
          <a:prstGeom prst="rect">
            <a:avLst/>
          </a:prstGeom>
          <a:solidFill>
            <a:srgbClr val="FFFFFF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2505456"/>
            <a:ext cx="8001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551176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4B605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542032"/>
            <a:ext cx="1810512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Cloud Foundations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2560320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91B1A"/>
                </a:solidFill>
                <a:latin typeface="Aptos"/>
              </a:defRPr>
            </a:pPr>
            <a:r>
              <a:t>Compute, storage, databases &amp; architecture fundamentals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035808"/>
            <a:ext cx="640080" cy="512064"/>
          </a:xfrm>
          <a:prstGeom prst="rect">
            <a:avLst/>
          </a:prstGeom>
          <a:solidFill>
            <a:srgbClr val="EEF0EB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17320" y="3035808"/>
            <a:ext cx="1874519" cy="512064"/>
          </a:xfrm>
          <a:prstGeom prst="rect">
            <a:avLst/>
          </a:prstGeom>
          <a:solidFill>
            <a:srgbClr val="EEF0EB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035808"/>
            <a:ext cx="8001000" cy="512064"/>
          </a:xfrm>
          <a:prstGeom prst="rect">
            <a:avLst/>
          </a:prstGeom>
          <a:solidFill>
            <a:srgbClr val="EEF0EB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081528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4B605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3072384"/>
            <a:ext cx="1810512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Cloud Foundations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3090672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91B1A"/>
                </a:solidFill>
                <a:latin typeface="Aptos"/>
              </a:defRPr>
            </a:pPr>
            <a:r>
              <a:t>Automatic scaling &amp; monitoring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566160"/>
            <a:ext cx="6400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17320" y="3566160"/>
            <a:ext cx="1874519" cy="512064"/>
          </a:xfrm>
          <a:prstGeom prst="rect">
            <a:avLst/>
          </a:prstGeom>
          <a:solidFill>
            <a:srgbClr val="FFFFFF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0" y="3566160"/>
            <a:ext cx="8001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611880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4B605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2" y="3602736"/>
            <a:ext cx="1810512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Cloud Architecting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4448" y="3621024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91B1A"/>
                </a:solidFill>
                <a:latin typeface="Aptos"/>
              </a:defRPr>
            </a:pPr>
            <a:r>
              <a:t>IAM, S3, EC2, RDS, VPC &amp; VPC peering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096512"/>
            <a:ext cx="640080" cy="512064"/>
          </a:xfrm>
          <a:prstGeom prst="rect">
            <a:avLst/>
          </a:prstGeom>
          <a:solidFill>
            <a:srgbClr val="EEF0EB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17320" y="4096512"/>
            <a:ext cx="1874519" cy="512064"/>
          </a:xfrm>
          <a:prstGeom prst="rect">
            <a:avLst/>
          </a:prstGeom>
          <a:solidFill>
            <a:srgbClr val="EEF0EB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29000" y="4096512"/>
            <a:ext cx="8001000" cy="512064"/>
          </a:xfrm>
          <a:prstGeom prst="rect">
            <a:avLst/>
          </a:prstGeom>
          <a:solidFill>
            <a:srgbClr val="EEF0EB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142232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4B605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2" y="4133088"/>
            <a:ext cx="1810512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Cloud Architecting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84448" y="4151376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91B1A"/>
                </a:solidFill>
                <a:latin typeface="Aptos"/>
              </a:defRPr>
            </a:pPr>
            <a:r>
              <a:t>KMS, monitoring, elasticity, high availability &amp; Route 53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626864"/>
            <a:ext cx="6400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17320" y="4626864"/>
            <a:ext cx="1874519" cy="512064"/>
          </a:xfrm>
          <a:prstGeom prst="rect">
            <a:avLst/>
          </a:prstGeom>
          <a:solidFill>
            <a:srgbClr val="FFFFFF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29000" y="4626864"/>
            <a:ext cx="8001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672584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4B605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44752" y="4663440"/>
            <a:ext cx="1810512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Cloud Architecting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4448" y="468172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91B1A"/>
                </a:solidFill>
                <a:latin typeface="Aptos"/>
              </a:defRPr>
            </a:pPr>
            <a:r>
              <a:t>SQS-based decoupling &amp; serverless microservices with Lambda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5157216"/>
            <a:ext cx="640080" cy="512064"/>
          </a:xfrm>
          <a:prstGeom prst="rect">
            <a:avLst/>
          </a:prstGeom>
          <a:solidFill>
            <a:srgbClr val="EEF0EB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417320" y="5157216"/>
            <a:ext cx="1874519" cy="512064"/>
          </a:xfrm>
          <a:prstGeom prst="rect">
            <a:avLst/>
          </a:prstGeom>
          <a:solidFill>
            <a:srgbClr val="EEF0EB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29000" y="5157216"/>
            <a:ext cx="8001000" cy="512064"/>
          </a:xfrm>
          <a:prstGeom prst="rect">
            <a:avLst/>
          </a:prstGeom>
          <a:solidFill>
            <a:srgbClr val="EEF0EB"/>
          </a:solidFill>
          <a:ln>
            <a:solidFill>
              <a:srgbClr val="E1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5202936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4B605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44752" y="5193792"/>
            <a:ext cx="1810512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191B1A"/>
                </a:solidFill>
                <a:latin typeface="Aptos"/>
              </a:defRPr>
            </a:pPr>
            <a:r>
              <a:t>Cloud Architecting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84448" y="5212080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91B1A"/>
                </a:solidFill>
                <a:latin typeface="Aptos"/>
              </a:defRPr>
            </a:pPr>
            <a:r>
              <a:t>Data engineering, disaster recovery &amp; certification preparation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25E"/>
                </a:solidFill>
                <a:latin typeface="Aptos"/>
              </a:defRPr>
            </a:pPr>
            <a:r>
              <a:t>IILM University  •  Cloud Virtual Internship  •  Rahul Soni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B1A"/>
                </a:solidFill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84048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B605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691640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B1A"/>
                </a:solidFill>
                <a:latin typeface="Aptos Display"/>
              </a:defRPr>
            </a:pPr>
            <a:r>
              <a:t>Cloud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5F625E"/>
                </a:solidFill>
                <a:latin typeface="Aptos"/>
              </a:defRPr>
            </a:pPr>
            <a:r>
              <a:t>Explain core cloud computing and AWS concepts.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32588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325880"/>
            <a:ext cx="64008" cy="1691640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1472184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B1A"/>
                </a:solidFill>
                <a:latin typeface="Aptos Display"/>
              </a:defRPr>
            </a:pPr>
            <a:r>
              <a:t>AWS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1892807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5F625E"/>
                </a:solidFill>
                <a:latin typeface="Aptos"/>
              </a:defRPr>
            </a:pPr>
            <a:r>
              <a:t>Relate networking, compute, storage and database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2588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25880"/>
            <a:ext cx="64008" cy="1691640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472184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B1A"/>
                </a:solidFill>
                <a:latin typeface="Aptos Display"/>
              </a:defRPr>
            </a:pPr>
            <a: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892807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5F625E"/>
                </a:solidFill>
                <a:latin typeface="Aptos"/>
              </a:defRPr>
            </a:pPr>
            <a:r>
              <a:t>Understand IAM, KMS and secure access concepts.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132588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59" y="1325880"/>
            <a:ext cx="64008" cy="1691640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1472184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B1A"/>
                </a:solidFill>
                <a:latin typeface="Aptos Display"/>
              </a:defRPr>
            </a:pPr>
            <a:r>
              <a:t>Scalability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1892807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5F625E"/>
                </a:solidFill>
                <a:latin typeface="Aptos"/>
              </a:defRPr>
            </a:pPr>
            <a:r>
              <a:t>Understand monitoring, automatic scaling and elasticity.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7472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474720"/>
            <a:ext cx="64008" cy="1691640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621024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B1A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041648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5F625E"/>
                </a:solidFill>
                <a:latin typeface="Aptos"/>
              </a:defRPr>
            </a:pPr>
            <a:r>
              <a:t>Connect AWS services into broader cloud architecture.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39" y="347472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39" y="3474720"/>
            <a:ext cx="64008" cy="1691640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1607" y="3621024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B1A"/>
                </a:solidFill>
                <a:latin typeface="Aptos Display"/>
              </a:defRPr>
            </a:pPr>
            <a:r>
              <a:t>Modern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7" y="4041648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5F625E"/>
                </a:solidFill>
                <a:latin typeface="Aptos"/>
              </a:defRPr>
            </a:pPr>
            <a:r>
              <a:t>Recognize decoupled and serverless approaches.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47472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474720"/>
            <a:ext cx="64008" cy="1691640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3621024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B1A"/>
                </a:solidFill>
                <a:latin typeface="Aptos Display"/>
              </a:defRPr>
            </a:pPr>
            <a:r>
              <a:t>Resilience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041648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5F625E"/>
                </a:solidFill>
                <a:latin typeface="Aptos"/>
              </a:defRPr>
            </a:pPr>
            <a:r>
              <a:t>Understand high availability and disaster recovery planning.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59" y="347472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81159" y="3474720"/>
            <a:ext cx="64008" cy="1691640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82328" y="3621024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B1A"/>
                </a:solidFill>
                <a:latin typeface="Aptos Display"/>
              </a:defRPr>
            </a:pPr>
            <a:r>
              <a:t>Career Readiness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2328" y="4041648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5F625E"/>
                </a:solidFill>
                <a:latin typeface="Aptos"/>
              </a:defRPr>
            </a:pPr>
            <a:r>
              <a:t>Build a foundation for continued AWS learning and certification preparation.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25E"/>
                </a:solidFill>
                <a:latin typeface="Aptos"/>
              </a:defRPr>
            </a:pPr>
            <a:r>
              <a:t>IILM University  •  Cloud Virtual Internship  •  Rahul Soni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B1A"/>
                </a:solidFill>
                <a:latin typeface="Aptos Display"/>
              </a:defRPr>
            </a:pPr>
            <a:r>
              <a:t>Certificates &amp; Documentary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84048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B605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rtificat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399032"/>
            <a:ext cx="3145536" cy="3593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" y="5056632"/>
            <a:ext cx="31455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91B1A"/>
                </a:solidFill>
                <a:latin typeface="Aptos"/>
              </a:defRPr>
            </a:pPr>
            <a:r>
              <a:t>Internship Completion Certificate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23444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ffer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399032"/>
            <a:ext cx="3145536" cy="3593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35424" y="5056632"/>
            <a:ext cx="31455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91B1A"/>
                </a:solidFill>
                <a:latin typeface="Aptos"/>
              </a:defRPr>
            </a:pPr>
            <a:r>
              <a:t>Internship Offer Letter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23444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eekwise_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399032"/>
            <a:ext cx="3145536" cy="3593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0456" y="5056632"/>
            <a:ext cx="31455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91B1A"/>
                </a:solidFill>
                <a:latin typeface="Aptos"/>
              </a:defRPr>
            </a:pPr>
            <a:r>
              <a:t>Week-wise Structure / Proof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25E"/>
                </a:solidFill>
                <a:latin typeface="Aptos"/>
              </a:defRPr>
            </a:pPr>
            <a:r>
              <a:t>IILM University  •  Cloud Virtual Internship  •  Rahul Soni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B1A"/>
                </a:solidFill>
                <a:latin typeface="Aptos Display"/>
              </a:defRPr>
            </a:pPr>
            <a: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84048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B605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64008" cy="2057400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3502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1B1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755648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F625E"/>
                </a:solidFill>
                <a:latin typeface="Aptos"/>
              </a:defRPr>
            </a:pPr>
            <a:r>
              <a:t>The Cloud Virtual Internship provided a structured foundation in AWS and cloud architecture. The learning progressed from fundamentals to security, scalability, availability, decoupling, serverless concepts and certification preparation.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2044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520440"/>
            <a:ext cx="64008" cy="1508760"/>
          </a:xfrm>
          <a:prstGeom prst="rect">
            <a:avLst/>
          </a:prstGeom>
          <a:solidFill>
            <a:srgbClr val="9A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66674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B1A"/>
                </a:solidFill>
                <a:latin typeface="Aptos Display"/>
              </a:defRPr>
            </a:pPr>
            <a:r>
              <a:t>Overall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087368"/>
            <a:ext cx="48463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F625E"/>
                </a:solidFill>
                <a:latin typeface="Aptos"/>
              </a:defRPr>
            </a:pPr>
            <a:r>
              <a:t>The internship helped connect individual AWS services with broader requirements of cloud architecture and operational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2578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4709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6052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46634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20">
                <a:solidFill>
                  <a:srgbClr val="191B1A"/>
                </a:solidFill>
                <a:latin typeface="Aptos"/>
              </a:defRPr>
            </a:pPr>
            <a:r>
              <a:t>•  EduSkills Foundation — AICTE–EduSkills Virtual Internship Program – AWS Cloud, 2026.</a:t>
            </a:r>
          </a:p>
          <a:p>
            <a:pPr>
              <a:spcAft>
                <a:spcPts val="700"/>
              </a:spcAft>
              <a:defRPr sz="1120">
                <a:solidFill>
                  <a:srgbClr val="191B1A"/>
                </a:solidFill>
                <a:latin typeface="Aptos"/>
              </a:defRPr>
            </a:pPr>
            <a:r>
              <a:t>•  EduSkills Foundation — Certificate of Virtual Internship – Cloud Virtual Internship, 2026.</a:t>
            </a:r>
          </a:p>
          <a:p>
            <a:pPr>
              <a:spcAft>
                <a:spcPts val="700"/>
              </a:spcAft>
              <a:defRPr sz="1120">
                <a:solidFill>
                  <a:srgbClr val="191B1A"/>
                </a:solidFill>
                <a:latin typeface="Aptos"/>
              </a:defRPr>
            </a:pPr>
            <a:r>
              <a:t>•  AWS Academy — AWS Cloud curriculum referenced in the supplied internship materials.</a:t>
            </a:r>
          </a:p>
          <a:p>
            <a:pPr>
              <a:spcAft>
                <a:spcPts val="700"/>
              </a:spcAft>
              <a:defRPr sz="1120">
                <a:solidFill>
                  <a:srgbClr val="191B1A"/>
                </a:solidFill>
                <a:latin typeface="Aptos"/>
              </a:defRPr>
            </a:pPr>
            <a:r>
              <a:t>•  EduSkills Foundation — Official Website: eduskillsfoundation.org</a:t>
            </a:r>
          </a:p>
          <a:p>
            <a:pPr>
              <a:spcAft>
                <a:spcPts val="700"/>
              </a:spcAft>
              <a:defRPr sz="1120">
                <a:solidFill>
                  <a:srgbClr val="191B1A"/>
                </a:solidFill>
                <a:latin typeface="Aptos"/>
              </a:defRPr>
            </a:pPr>
            <a:r>
              <a:t>•  IILM University, School of Computer Science &amp; Engineering — Internship Report Format, 2026–27.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25E"/>
                </a:solidFill>
                <a:latin typeface="Aptos"/>
              </a:defRPr>
            </a:pPr>
            <a:r>
              <a:t>IILM University  •  Cloud Virtual Internship  •  Rahul Soni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417320"/>
            <a:ext cx="853135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417320"/>
            <a:ext cx="853135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D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2148840"/>
            <a:ext cx="79552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4B6052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154680"/>
            <a:ext cx="6675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1B1A"/>
                </a:solidFill>
                <a:latin typeface="Aptos"/>
              </a:defRPr>
            </a:pPr>
            <a:r>
              <a:t>Cloud Virtual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703320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0">
                <a:solidFill>
                  <a:srgbClr val="5F625E"/>
                </a:solidFill>
                <a:latin typeface="Aptos"/>
              </a:defRPr>
            </a:pPr>
            <a:r>
              <a:t>Rahul Soni  •  B.Tech CSE  •  IILM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160520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0">
                <a:solidFill>
                  <a:srgbClr val="5F625E"/>
                </a:solidFill>
                <a:latin typeface="Aptos"/>
              </a:defRPr>
            </a:pPr>
            <a:r>
              <a:t>EduSkills Foundation  |  April–June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7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50138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25E"/>
                </a:solidFill>
                <a:latin typeface="Aptos"/>
              </a:defRPr>
            </a:pPr>
            <a:r>
              <a:t>IILM University  •  Cloud Virtual Internship  •  Rahul Soni                                  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